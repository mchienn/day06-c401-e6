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embeddedFontLst>
    <p:embeddedFont>
      <p:font typeface="MuseoModerno Medium"/>
      <p:regular r:id="rId15"/>
    </p:embeddedFont>
    <p:embeddedFont>
      <p:font typeface="MuseoModerno Bold"/>
      <p:regular r:id="rId16"/>
    </p:embeddedFont>
    <p:embeddedFont>
      <p:font typeface="Source Sans 3"/>
      <p:regular r:id="rId17"/>
    </p:embeddedFont>
    <p:embeddedFont>
      <p:font typeface="Source Sans 3 Bold"/>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slideLayout" Target="../slideLayouts/slideLayout7.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694259"/>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24E73"/>
                </a:solidFill>
                <a:latin typeface="MuseoModerno Medium" pitchFamily="34" charset="0"/>
                <a:ea typeface="MuseoModerno Medium" pitchFamily="34" charset="-122"/>
                <a:cs typeface="MuseoModerno Medium" pitchFamily="34" charset="-120"/>
              </a:rPr>
              <a:t>SPEC sản phẩm: AI Gợi Ý Món Ăn (AI Food Recommendation)</a:t>
            </a:r>
            <a:endParaRPr lang="en-US" sz="2400" dirty="0"/>
          </a:p>
        </p:txBody>
      </p:sp>
      <p:sp>
        <p:nvSpPr>
          <p:cNvPr id="4" name="Text 1"/>
          <p:cNvSpPr/>
          <p:nvPr/>
        </p:nvSpPr>
        <p:spPr>
          <a:xfrm>
            <a:off x="3925119" y="2655391"/>
            <a:ext cx="4722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Giải pháp dành cho nhân viên văn phòng và sinh viên muốn đặt bữa trưa nhanh khi họ chỉ có mô tả mơ hồ như "đồ nước", "thanh đạm", "gần đây". Mục tiêu: giảm thời gian quyết định từ 20–30 phút xuống vài phút bằng cách chuyển mô tả tự nhiên thành 3 gợi ý an toàn, có lý do ngắn và thông tin khoảng cách, đồng thời áp dụng filter di ứng và bán kính 3km.</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563142"/>
            <a:ext cx="3436739"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Bằng chứng &amp; Pain chính</a:t>
            </a:r>
            <a:endParaRPr lang="en-US" sz="1950" dirty="0"/>
          </a:p>
        </p:txBody>
      </p:sp>
      <p:pic>
        <p:nvPicPr>
          <p:cNvPr id="3" name="Image 0" descr="preencoded.png">    </p:cNvPr>
          <p:cNvPicPr>
            <a:picLocks noChangeAspect="1"/>
          </p:cNvPicPr>
          <p:nvPr/>
        </p:nvPicPr>
        <p:blipFill>
          <a:blip r:embed="rId1"/>
          <a:stretch>
            <a:fillRect/>
          </a:stretch>
        </p:blipFill>
        <p:spPr>
          <a:xfrm>
            <a:off x="496119" y="2121247"/>
            <a:ext cx="757982" cy="947440"/>
          </a:xfrm>
          <a:prstGeom prst="rect">
            <a:avLst/>
          </a:prstGeom>
        </p:spPr>
      </p:pic>
      <p:sp>
        <p:nvSpPr>
          <p:cNvPr id="4" name="Text 1"/>
          <p:cNvSpPr/>
          <p:nvPr/>
        </p:nvSpPr>
        <p:spPr>
          <a:xfrm>
            <a:off x="1409105" y="212124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Thực tế hành vi</a:t>
            </a:r>
            <a:endParaRPr lang="en-US" sz="1200" dirty="0"/>
          </a:p>
        </p:txBody>
      </p:sp>
      <p:sp>
        <p:nvSpPr>
          <p:cNvPr id="5" name="Text 2"/>
          <p:cNvSpPr/>
          <p:nvPr/>
        </p:nvSpPr>
        <p:spPr>
          <a:xfrm>
            <a:off x="1409105" y="2389510"/>
            <a:ext cx="1700882"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Người dùng thường mô tả cảm giác (ví dụ "muốn đồ nước, thanh đạm, Quận 1") chứ không biết tên món. Ứng dụng hiện tại buộc họ phải biết tên món hoặc gõ từ khóa cụ thể.</a:t>
            </a:r>
            <a:endParaRPr lang="en-US" sz="950" dirty="0"/>
          </a:p>
        </p:txBody>
      </p:sp>
      <p:pic>
        <p:nvPicPr>
          <p:cNvPr id="6" name="Image 1" descr="preencoded.png">    </p:cNvPr>
          <p:cNvPicPr>
            <a:picLocks noChangeAspect="1"/>
          </p:cNvPicPr>
          <p:nvPr/>
        </p:nvPicPr>
        <p:blipFill>
          <a:blip r:embed="rId2"/>
          <a:stretch>
            <a:fillRect/>
          </a:stretch>
        </p:blipFill>
        <p:spPr>
          <a:xfrm>
            <a:off x="3264991" y="2121247"/>
            <a:ext cx="757982" cy="947440"/>
          </a:xfrm>
          <a:prstGeom prst="rect">
            <a:avLst/>
          </a:prstGeom>
        </p:spPr>
      </p:pic>
      <p:sp>
        <p:nvSpPr>
          <p:cNvPr id="7" name="Text 3"/>
          <p:cNvSpPr/>
          <p:nvPr/>
        </p:nvSpPr>
        <p:spPr>
          <a:xfrm>
            <a:off x="4177978" y="212124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Rủi ro LLM</a:t>
            </a:r>
            <a:endParaRPr lang="en-US" sz="1200" dirty="0"/>
          </a:p>
        </p:txBody>
      </p:sp>
      <p:sp>
        <p:nvSpPr>
          <p:cNvPr id="8" name="Text 4"/>
          <p:cNvSpPr/>
          <p:nvPr/>
        </p:nvSpPr>
        <p:spPr>
          <a:xfrm>
            <a:off x="4177978" y="2389510"/>
            <a:ext cx="1700957"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LLM hiểu ngôn ngữ tự nhiên tốt nhưng thiếu dữ liệu khoảng cách/nguyên liệu dẫn tới hallucination: gợi ý quán sai vị trí hoặc món không kiểm chứng.</a:t>
            </a:r>
            <a:endParaRPr lang="en-US" sz="950" dirty="0"/>
          </a:p>
        </p:txBody>
      </p:sp>
      <p:pic>
        <p:nvPicPr>
          <p:cNvPr id="9" name="Image 2" descr="preencoded.png">    </p:cNvPr>
          <p:cNvPicPr>
            <a:picLocks noChangeAspect="1"/>
          </p:cNvPicPr>
          <p:nvPr/>
        </p:nvPicPr>
        <p:blipFill>
          <a:blip r:embed="rId3"/>
          <a:stretch>
            <a:fillRect/>
          </a:stretch>
        </p:blipFill>
        <p:spPr>
          <a:xfrm>
            <a:off x="6033939" y="2121247"/>
            <a:ext cx="757982" cy="947440"/>
          </a:xfrm>
          <a:prstGeom prst="rect">
            <a:avLst/>
          </a:prstGeom>
        </p:spPr>
      </p:pic>
      <p:sp>
        <p:nvSpPr>
          <p:cNvPr id="10" name="Text 5"/>
          <p:cNvSpPr/>
          <p:nvPr/>
        </p:nvSpPr>
        <p:spPr>
          <a:xfrm>
            <a:off x="6946925" y="212124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Decision fatigue</a:t>
            </a:r>
            <a:endParaRPr lang="en-US" sz="1200" dirty="0"/>
          </a:p>
        </p:txBody>
      </p:sp>
      <p:sp>
        <p:nvSpPr>
          <p:cNvPr id="11" name="Text 6"/>
          <p:cNvSpPr/>
          <p:nvPr/>
        </p:nvSpPr>
        <p:spPr>
          <a:xfrm>
            <a:off x="6946925" y="2389510"/>
            <a:ext cx="1700957"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Người dùng mất 20–30 phút lướt app, dẫn tới mệt mỏi và thường quay lại gọi món cũ. Cần hỗ trợ quyết định nhanh (3 lựa chọn tối ưu kèm lý do).</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926729"/>
            <a:ext cx="4792191"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Phạm vi Prototype (Lat cắt để build)</a:t>
            </a:r>
            <a:endParaRPr lang="en-US" sz="1950" dirty="0"/>
          </a:p>
        </p:txBody>
      </p:sp>
      <p:sp>
        <p:nvSpPr>
          <p:cNvPr id="4" name="Text 1"/>
          <p:cNvSpPr/>
          <p:nvPr/>
        </p:nvSpPr>
        <p:spPr>
          <a:xfrm>
            <a:off x="3925119" y="2422847"/>
            <a:ext cx="4722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Prototype giả lập luồng: người dùng nhập mô tả tự nhiên → AI extract intent thành tags (loại món, vị, khu vực, ngân sách, di ứng) → match với dataset nội bộ 10–20 món → áp hard filter: khoảng cách ≤ 3km và filter di ứng bắt buộc → trả về chính xác 3 gợi ý phù hợp, mỗi gợi ý kèm tên món/quán, tags khớp, khoảng cách và 1–2 câu lý do ngắn để hỗ trợ quyết định.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429866"/>
            <a:ext cx="5121250"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AI Product Canvas — Giá trị &amp; Niềm tin</a:t>
            </a:r>
            <a:endParaRPr lang="en-US" sz="19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987972"/>
            <a:ext cx="310083" cy="310083"/>
          </a:xfrm>
          <a:prstGeom prst="rect">
            <a:avLst/>
          </a:prstGeom>
        </p:spPr>
      </p:pic>
      <p:sp>
        <p:nvSpPr>
          <p:cNvPr id="4" name="Text 1"/>
          <p:cNvSpPr/>
          <p:nvPr/>
        </p:nvSpPr>
        <p:spPr>
          <a:xfrm>
            <a:off x="496119" y="245306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Value — Giá trị</a:t>
            </a:r>
            <a:endParaRPr lang="en-US" sz="1200" dirty="0"/>
          </a:p>
        </p:txBody>
      </p:sp>
      <p:sp>
        <p:nvSpPr>
          <p:cNvPr id="5" name="Text 2"/>
          <p:cNvSpPr/>
          <p:nvPr/>
        </p:nvSpPr>
        <p:spPr>
          <a:xfrm>
            <a:off x="496119" y="2721322"/>
            <a:ext cx="261386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Giúp người bận rộn chọn bữa trưa nhanh: hiểu mô tả mơ hồ, rút gọn lựa chọn xuống 3 món, mỗi gợi ý có lý do rõ ràng để quyết định trong vài phút thay vì 20–30 phút.</a:t>
            </a:r>
            <a:endParaRPr lang="en-US" sz="9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1987972"/>
            <a:ext cx="310083" cy="310083"/>
          </a:xfrm>
          <a:prstGeom prst="rect">
            <a:avLst/>
          </a:prstGeom>
        </p:spPr>
      </p:pic>
      <p:sp>
        <p:nvSpPr>
          <p:cNvPr id="7" name="Text 3"/>
          <p:cNvSpPr/>
          <p:nvPr/>
        </p:nvSpPr>
        <p:spPr>
          <a:xfrm>
            <a:off x="3264991" y="245306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Trust — Niềm tin</a:t>
            </a:r>
            <a:endParaRPr lang="en-US" sz="1200" dirty="0"/>
          </a:p>
        </p:txBody>
      </p:sp>
      <p:sp>
        <p:nvSpPr>
          <p:cNvPr id="8" name="Text 4"/>
          <p:cNvSpPr/>
          <p:nvPr/>
        </p:nvSpPr>
        <p:spPr>
          <a:xfrm>
            <a:off x="3264991" y="2721322"/>
            <a:ext cx="261394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Không gợi món ngoài dataset; hiển thị tags khớp, khoảng cách, cảnh báo dị ứng; khi AI thiếu tự tin sẽ hỏi lại user. User luôn giữ quyền quyết định cuối cùng.</a:t>
            </a:r>
            <a:endParaRPr lang="en-US" sz="9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1987972"/>
            <a:ext cx="310083" cy="310083"/>
          </a:xfrm>
          <a:prstGeom prst="rect">
            <a:avLst/>
          </a:prstGeom>
        </p:spPr>
      </p:pic>
      <p:sp>
        <p:nvSpPr>
          <p:cNvPr id="10" name="Text 5"/>
          <p:cNvSpPr/>
          <p:nvPr/>
        </p:nvSpPr>
        <p:spPr>
          <a:xfrm>
            <a:off x="6033939" y="245306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Feasibility — Khả thi</a:t>
            </a:r>
            <a:endParaRPr lang="en-US" sz="1200" dirty="0"/>
          </a:p>
        </p:txBody>
      </p:sp>
      <p:sp>
        <p:nvSpPr>
          <p:cNvPr id="11" name="Text 6"/>
          <p:cNvSpPr/>
          <p:nvPr/>
        </p:nvSpPr>
        <p:spPr>
          <a:xfrm>
            <a:off x="6033939" y="2721322"/>
            <a:ext cx="261394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Trong hackathon, dataset 10–20 món đủ demo. Mỗi lần gọi AI chỉ cần extract intent và chấm điểm phù hợp nhanh (&lt;5s). Nguy cơ lớn nhất: sai lọc dị ứng hoặc vị trí — giải pháp: hard filter trước khi hiển thị.</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709836"/>
            <a:ext cx="5850954"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Thiết kế flow trải nghiệm — 4 đường đi chính</a:t>
            </a:r>
            <a:endParaRPr lang="en-US" sz="1950" dirty="0"/>
          </a:p>
        </p:txBody>
      </p:sp>
      <p:sp>
        <p:nvSpPr>
          <p:cNvPr id="3" name="Shape 1"/>
          <p:cNvSpPr/>
          <p:nvPr/>
        </p:nvSpPr>
        <p:spPr>
          <a:xfrm>
            <a:off x="496119" y="1453976"/>
            <a:ext cx="4013895" cy="123974"/>
          </a:xfrm>
          <a:prstGeom prst="roundRect">
            <a:avLst>
              <a:gd name="adj" fmla="val 15009"/>
            </a:avLst>
          </a:prstGeom>
          <a:solidFill>
            <a:srgbClr val="F3EEE3"/>
          </a:solidFill>
          <a:ln/>
        </p:spPr>
      </p:sp>
      <p:sp>
        <p:nvSpPr>
          <p:cNvPr id="4" name="Text 2"/>
          <p:cNvSpPr/>
          <p:nvPr/>
        </p:nvSpPr>
        <p:spPr>
          <a:xfrm>
            <a:off x="620092" y="1701924"/>
            <a:ext cx="2208088"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1. Duong thuận (Happy path)</a:t>
            </a:r>
            <a:endParaRPr lang="en-US" sz="1200" dirty="0"/>
          </a:p>
        </p:txBody>
      </p:sp>
      <p:sp>
        <p:nvSpPr>
          <p:cNvPr id="5" name="Text 3"/>
          <p:cNvSpPr/>
          <p:nvPr/>
        </p:nvSpPr>
        <p:spPr>
          <a:xfrm>
            <a:off x="620092" y="1970187"/>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User: "Tôi muốn ăn đồ nước, thanh đạm, quanh Quận 1". Hệ thống: extract tags (đồ_nước, thanh_đạm, quan_1, không dị ứng) → hiển thị 3 món đúng dataset, mỗi món có tên, tags khớp, khoảng cách &lt;3km và 1–2 câu lý do.</a:t>
            </a:r>
            <a:endParaRPr lang="en-US" sz="950" dirty="0"/>
          </a:p>
        </p:txBody>
      </p:sp>
      <p:sp>
        <p:nvSpPr>
          <p:cNvPr id="6" name="Shape 4"/>
          <p:cNvSpPr/>
          <p:nvPr/>
        </p:nvSpPr>
        <p:spPr>
          <a:xfrm>
            <a:off x="4633987" y="1267941"/>
            <a:ext cx="4013895" cy="123974"/>
          </a:xfrm>
          <a:prstGeom prst="roundRect">
            <a:avLst>
              <a:gd name="adj" fmla="val 15009"/>
            </a:avLst>
          </a:prstGeom>
          <a:solidFill>
            <a:srgbClr val="F3EEE3"/>
          </a:solidFill>
          <a:ln/>
        </p:spPr>
      </p:sp>
      <p:sp>
        <p:nvSpPr>
          <p:cNvPr id="7" name="Text 5"/>
          <p:cNvSpPr/>
          <p:nvPr/>
        </p:nvSpPr>
        <p:spPr>
          <a:xfrm>
            <a:off x="4757961" y="1515889"/>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2. Khi AI không chắc</a:t>
            </a:r>
            <a:endParaRPr lang="en-US" sz="1200" dirty="0"/>
          </a:p>
        </p:txBody>
      </p:sp>
      <p:sp>
        <p:nvSpPr>
          <p:cNvPr id="8" name="Text 6"/>
          <p:cNvSpPr/>
          <p:nvPr/>
        </p:nvSpPr>
        <p:spPr>
          <a:xfrm>
            <a:off x="4757961" y="1784152"/>
            <a:ext cx="376594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Prompt mâu thuẫn/không rõ → AI hiển thị trạng thái "không chắc" và đưa 2–3 option để user làm rõ (ví dụ "ưu tiên nhẹ bụng" / "ưu tiên cay").</a:t>
            </a:r>
            <a:endParaRPr lang="en-US" sz="950" dirty="0"/>
          </a:p>
        </p:txBody>
      </p:sp>
      <p:sp>
        <p:nvSpPr>
          <p:cNvPr id="9" name="Shape 7"/>
          <p:cNvSpPr/>
          <p:nvPr/>
        </p:nvSpPr>
        <p:spPr>
          <a:xfrm>
            <a:off x="496119" y="3198019"/>
            <a:ext cx="4013895" cy="123974"/>
          </a:xfrm>
          <a:prstGeom prst="roundRect">
            <a:avLst>
              <a:gd name="adj" fmla="val 15009"/>
            </a:avLst>
          </a:prstGeom>
          <a:solidFill>
            <a:srgbClr val="F3EEE3"/>
          </a:solidFill>
          <a:ln/>
        </p:spPr>
      </p:sp>
      <p:sp>
        <p:nvSpPr>
          <p:cNvPr id="10" name="Text 8"/>
          <p:cNvSpPr/>
          <p:nvPr/>
        </p:nvSpPr>
        <p:spPr>
          <a:xfrm>
            <a:off x="620092" y="3445966"/>
            <a:ext cx="2383259"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3. Khi không có kết quả an toàn</a:t>
            </a:r>
            <a:endParaRPr lang="en-US" sz="1200" dirty="0"/>
          </a:p>
        </p:txBody>
      </p:sp>
      <p:sp>
        <p:nvSpPr>
          <p:cNvPr id="11" name="Text 9"/>
          <p:cNvSpPr/>
          <p:nvPr/>
        </p:nvSpPr>
        <p:spPr>
          <a:xfrm>
            <a:off x="620092" y="3714229"/>
            <a:ext cx="376594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Dataset không có món thỏa cả khoảng cách ≤3km &amp; filter dị ứng → không sinh món ngoài dataset, UI báo không tìm được lựa chọn an toàn và gợi ý user relax filter hoặc mở rộng bán kính.</a:t>
            </a:r>
            <a:endParaRPr lang="en-US" sz="950" dirty="0"/>
          </a:p>
        </p:txBody>
      </p:sp>
      <p:sp>
        <p:nvSpPr>
          <p:cNvPr id="12" name="Shape 10"/>
          <p:cNvSpPr/>
          <p:nvPr/>
        </p:nvSpPr>
        <p:spPr>
          <a:xfrm>
            <a:off x="4633987" y="3011984"/>
            <a:ext cx="4013895" cy="123974"/>
          </a:xfrm>
          <a:prstGeom prst="roundRect">
            <a:avLst>
              <a:gd name="adj" fmla="val 15009"/>
            </a:avLst>
          </a:prstGeom>
          <a:solidFill>
            <a:srgbClr val="F3EEE3"/>
          </a:solidFill>
          <a:ln/>
        </p:spPr>
      </p:sp>
      <p:sp>
        <p:nvSpPr>
          <p:cNvPr id="13" name="Text 11"/>
          <p:cNvSpPr/>
          <p:nvPr/>
        </p:nvSpPr>
        <p:spPr>
          <a:xfrm>
            <a:off x="4757961" y="3259931"/>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4. Khi user sửa</a:t>
            </a:r>
            <a:endParaRPr lang="en-US" sz="1200" dirty="0"/>
          </a:p>
        </p:txBody>
      </p:sp>
      <p:sp>
        <p:nvSpPr>
          <p:cNvPr id="14" name="Text 12"/>
          <p:cNvSpPr/>
          <p:nvPr/>
        </p:nvSpPr>
        <p:spPr>
          <a:xfrm>
            <a:off x="4757961" y="3528194"/>
            <a:ext cx="376594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User loại món / sửa dị ứng → hệ thống chạy lại filter, lưu correction vào log để cải thiện rule/tag cho tương lai.</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781571"/>
            <a:ext cx="7406804"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Failure modes &amp; Guardrails (Làm chi tiết cho tôi phần này)</a:t>
            </a:r>
            <a:endParaRPr lang="en-US" sz="1950" dirty="0"/>
          </a:p>
        </p:txBody>
      </p:sp>
      <p:sp>
        <p:nvSpPr>
          <p:cNvPr id="3" name="Text 1"/>
          <p:cNvSpPr/>
          <p:nvPr/>
        </p:nvSpPr>
        <p:spPr>
          <a:xfrm>
            <a:off x="496119" y="1339676"/>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Làm chi tiết: ba lỗi lớn và cách prototype xử lý cụ thể, ưu tiên bảo vệ an toàn người dùng.</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677665"/>
            <a:ext cx="2634555" cy="2684190"/>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8982" y="1789286"/>
            <a:ext cx="148828" cy="148828"/>
          </a:xfrm>
          <a:prstGeom prst="rect">
            <a:avLst/>
          </a:prstGeom>
        </p:spPr>
      </p:pic>
      <p:sp>
        <p:nvSpPr>
          <p:cNvPr id="6" name="Text 2"/>
          <p:cNvSpPr/>
          <p:nvPr/>
        </p:nvSpPr>
        <p:spPr>
          <a:xfrm>
            <a:off x="634380" y="2173784"/>
            <a:ext cx="235803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1. Gợi ý chứa thành phần dị ứng (Rủi ro cao)</a:t>
            </a:r>
            <a:endParaRPr lang="en-US" sz="1200" dirty="0"/>
          </a:p>
        </p:txBody>
      </p:sp>
      <p:sp>
        <p:nvSpPr>
          <p:cNvPr id="7" name="Text 3"/>
          <p:cNvSpPr/>
          <p:nvPr/>
        </p:nvSpPr>
        <p:spPr>
          <a:xfrm>
            <a:off x="634380" y="2635895"/>
            <a:ext cx="2358033"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Nguyên nhân: user không khai rõ dị ứng hoặc AI bỏ sót tag nguyên liệu. Ai chịu thiệt: sức khỏe user. Xử lý prototype: bắt buộc trường/checkbox dị ứng trước khi gợi ý; filter di ứng chạy trước khi xếp hạng; mọi món có nguyên liệu trùng dị ứng bị loại hoàn toàn (không chỉ giảm điểm). UI hiển thị cảnh báo rõ ràng nếu user chưa khai dị ứng.</a:t>
            </a:r>
            <a:endParaRPr lang="en-US" sz="9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54648" y="1677665"/>
            <a:ext cx="2634630" cy="2684190"/>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97512" y="1789286"/>
            <a:ext cx="148828" cy="148828"/>
          </a:xfrm>
          <a:prstGeom prst="rect">
            <a:avLst/>
          </a:prstGeom>
        </p:spPr>
      </p:pic>
      <p:sp>
        <p:nvSpPr>
          <p:cNvPr id="10" name="Text 4"/>
          <p:cNvSpPr/>
          <p:nvPr/>
        </p:nvSpPr>
        <p:spPr>
          <a:xfrm>
            <a:off x="3392909" y="2173784"/>
            <a:ext cx="1957462"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2. Gợi ý quán/mon quá xa</a:t>
            </a:r>
            <a:endParaRPr lang="en-US" sz="1200" dirty="0"/>
          </a:p>
        </p:txBody>
      </p:sp>
      <p:sp>
        <p:nvSpPr>
          <p:cNvPr id="11" name="Text 5"/>
          <p:cNvSpPr/>
          <p:nvPr/>
        </p:nvSpPr>
        <p:spPr>
          <a:xfrm>
            <a:off x="3392909" y="2442046"/>
            <a:ext cx="2358107"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Nguyên nhân: AI hiểu sai vị trí hoặc dùng dữ liệu không kiểm chứng. Hệ quả: phí giao cao, mất thời gian, mất trust. Xử lý prototype: hard filter loại món có khoảng cách &gt;3km dựa trên trường khoảng cách trong dataset trước khi hiển thị; nếu dataset thiếu khoảng cách chính xác, UI yêu cầu user cho phép xác nhận khu vực hoặc mở rộng bán kính.</a:t>
            </a:r>
            <a:endParaRPr lang="en-US" sz="95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13252" y="1677665"/>
            <a:ext cx="2634555" cy="2684190"/>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56115" y="1789286"/>
            <a:ext cx="148828" cy="148828"/>
          </a:xfrm>
          <a:prstGeom prst="rect">
            <a:avLst/>
          </a:prstGeom>
        </p:spPr>
      </p:pic>
      <p:sp>
        <p:nvSpPr>
          <p:cNvPr id="14" name="Text 6"/>
          <p:cNvSpPr/>
          <p:nvPr/>
        </p:nvSpPr>
        <p:spPr>
          <a:xfrm>
            <a:off x="6151513" y="2173784"/>
            <a:ext cx="235803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3. AI tự tin quá mức với intent mơ hồ</a:t>
            </a:r>
            <a:endParaRPr lang="en-US" sz="1200" dirty="0"/>
          </a:p>
        </p:txBody>
      </p:sp>
      <p:sp>
        <p:nvSpPr>
          <p:cNvPr id="15" name="Text 7"/>
          <p:cNvSpPr/>
          <p:nvPr/>
        </p:nvSpPr>
        <p:spPr>
          <a:xfrm>
            <a:off x="6151513" y="2635895"/>
            <a:ext cx="2358033"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Nguyên nhân: prompt quá ngắn/ mâu thuẫn. Hệ quả: gợi ý không liên quan, tạo trải nghiệm xấu. Xử lý prototype: nếu confidence thấp hoặc thiếu tags quan trọng, AI không tự động trả 3 gợi ý; thay vào đó hỏi lại user bằng chip/option đơn giản (ví dụ "ưu tiên: nhẹ bụng / cay / no") hoặc đề nghị bỏ bớt điều kiện không cần thiết.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369442"/>
            <a:ext cx="3836045"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Kiểm thử demo &amp; Test cases</a:t>
            </a:r>
            <a:endParaRPr lang="en-US" sz="1950" dirty="0"/>
          </a:p>
        </p:txBody>
      </p:sp>
      <p:sp>
        <p:nvSpPr>
          <p:cNvPr id="3" name="Text 1"/>
          <p:cNvSpPr/>
          <p:nvPr/>
        </p:nvSpPr>
        <p:spPr>
          <a:xfrm>
            <a:off x="496119" y="1927547"/>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Plan kiểm thử gồm kịch bản happy path và các lỗi (dị ứng, khoảng cách, low-confidence, empty result). Mỗi test ghi log: prompt gốc, tags AI extract, món bị loại, món được chọn, lý do sửa. Demo cần ảnh chụp màn hình luồng thành công, luồng lỗi/low-confidence, dataset mẫu và prompt log.</a:t>
            </a:r>
            <a:endParaRPr lang="en-US" sz="950" dirty="0"/>
          </a:p>
        </p:txBody>
      </p:sp>
      <p:sp>
        <p:nvSpPr>
          <p:cNvPr id="4" name="Shape 2"/>
          <p:cNvSpPr/>
          <p:nvPr/>
        </p:nvSpPr>
        <p:spPr>
          <a:xfrm>
            <a:off x="496119" y="2463998"/>
            <a:ext cx="1944960" cy="1310060"/>
          </a:xfrm>
          <a:prstGeom prst="roundRect">
            <a:avLst>
              <a:gd name="adj" fmla="val 1420"/>
            </a:avLst>
          </a:prstGeom>
          <a:solidFill>
            <a:srgbClr val="F3EEE3"/>
          </a:solidFill>
          <a:ln/>
        </p:spPr>
      </p:sp>
      <p:sp>
        <p:nvSpPr>
          <p:cNvPr id="5" name="Text 3"/>
          <p:cNvSpPr/>
          <p:nvPr/>
        </p:nvSpPr>
        <p:spPr>
          <a:xfrm>
            <a:off x="620092" y="2587972"/>
            <a:ext cx="1568500"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Test 1 — Happy path</a:t>
            </a:r>
            <a:endParaRPr lang="en-US" sz="1200" dirty="0"/>
          </a:p>
        </p:txBody>
      </p:sp>
      <p:sp>
        <p:nvSpPr>
          <p:cNvPr id="6" name="Text 4"/>
          <p:cNvSpPr/>
          <p:nvPr/>
        </p:nvSpPr>
        <p:spPr>
          <a:xfrm>
            <a:off x="620092" y="2856235"/>
            <a:ext cx="169701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Input: "Đồ nước, thanh đạm, Quận 1, không dị ứng" → Kỳ vọng: 3 món khớp tags, khoảng cách ≤3km.</a:t>
            </a:r>
            <a:endParaRPr lang="en-US" sz="950" dirty="0"/>
          </a:p>
        </p:txBody>
      </p:sp>
      <p:sp>
        <p:nvSpPr>
          <p:cNvPr id="7" name="Shape 5"/>
          <p:cNvSpPr/>
          <p:nvPr/>
        </p:nvSpPr>
        <p:spPr>
          <a:xfrm>
            <a:off x="2565053" y="2463998"/>
            <a:ext cx="1944960" cy="1310060"/>
          </a:xfrm>
          <a:prstGeom prst="roundRect">
            <a:avLst>
              <a:gd name="adj" fmla="val 1420"/>
            </a:avLst>
          </a:prstGeom>
          <a:solidFill>
            <a:srgbClr val="F3EEE3"/>
          </a:solidFill>
          <a:ln/>
        </p:spPr>
      </p:sp>
      <p:sp>
        <p:nvSpPr>
          <p:cNvPr id="8" name="Text 6"/>
          <p:cNvSpPr/>
          <p:nvPr/>
        </p:nvSpPr>
        <p:spPr>
          <a:xfrm>
            <a:off x="2689027" y="2587972"/>
            <a:ext cx="1576462"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Test 2 — Allergy filter</a:t>
            </a:r>
            <a:endParaRPr lang="en-US" sz="1200" dirty="0"/>
          </a:p>
        </p:txBody>
      </p:sp>
      <p:sp>
        <p:nvSpPr>
          <p:cNvPr id="9" name="Text 7"/>
          <p:cNvSpPr/>
          <p:nvPr/>
        </p:nvSpPr>
        <p:spPr>
          <a:xfrm>
            <a:off x="2689027" y="2856235"/>
            <a:ext cx="169701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Input có dị ứng hải sản → Kỳ vọng: không hiển thị món chứa hải sản.</a:t>
            </a:r>
            <a:endParaRPr lang="en-US" sz="950" dirty="0"/>
          </a:p>
        </p:txBody>
      </p:sp>
      <p:sp>
        <p:nvSpPr>
          <p:cNvPr id="10" name="Shape 8"/>
          <p:cNvSpPr/>
          <p:nvPr/>
        </p:nvSpPr>
        <p:spPr>
          <a:xfrm>
            <a:off x="4633987" y="2463998"/>
            <a:ext cx="1944960" cy="1310060"/>
          </a:xfrm>
          <a:prstGeom prst="roundRect">
            <a:avLst>
              <a:gd name="adj" fmla="val 1420"/>
            </a:avLst>
          </a:prstGeom>
          <a:solidFill>
            <a:srgbClr val="F3EEE3"/>
          </a:solidFill>
          <a:ln/>
        </p:spPr>
      </p:sp>
      <p:sp>
        <p:nvSpPr>
          <p:cNvPr id="11" name="Text 9"/>
          <p:cNvSpPr/>
          <p:nvPr/>
        </p:nvSpPr>
        <p:spPr>
          <a:xfrm>
            <a:off x="4757961" y="2587972"/>
            <a:ext cx="169701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Test 3 — Low-confidence</a:t>
            </a:r>
            <a:endParaRPr lang="en-US" sz="1200" dirty="0"/>
          </a:p>
        </p:txBody>
      </p:sp>
      <p:sp>
        <p:nvSpPr>
          <p:cNvPr id="12" name="Text 10"/>
          <p:cNvSpPr/>
          <p:nvPr/>
        </p:nvSpPr>
        <p:spPr>
          <a:xfrm>
            <a:off x="4757961" y="3050084"/>
            <a:ext cx="169701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Prompt mâu thuẫn → Kỳ vọng: AI hỏi lại thay vì đưa 3 gợi ý chắc chắn.</a:t>
            </a:r>
            <a:endParaRPr lang="en-US" sz="950" dirty="0"/>
          </a:p>
        </p:txBody>
      </p:sp>
      <p:sp>
        <p:nvSpPr>
          <p:cNvPr id="13" name="Shape 11"/>
          <p:cNvSpPr/>
          <p:nvPr/>
        </p:nvSpPr>
        <p:spPr>
          <a:xfrm>
            <a:off x="6702921" y="2463998"/>
            <a:ext cx="1944960" cy="1310060"/>
          </a:xfrm>
          <a:prstGeom prst="roundRect">
            <a:avLst>
              <a:gd name="adj" fmla="val 1420"/>
            </a:avLst>
          </a:prstGeom>
          <a:solidFill>
            <a:srgbClr val="F3EEE3"/>
          </a:solidFill>
          <a:ln/>
        </p:spPr>
      </p:sp>
      <p:sp>
        <p:nvSpPr>
          <p:cNvPr id="14" name="Text 12"/>
          <p:cNvSpPr/>
          <p:nvPr/>
        </p:nvSpPr>
        <p:spPr>
          <a:xfrm>
            <a:off x="6826895" y="2587972"/>
            <a:ext cx="1648644"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Test 4 — Empty result</a:t>
            </a:r>
            <a:endParaRPr lang="en-US" sz="1200" dirty="0"/>
          </a:p>
        </p:txBody>
      </p:sp>
      <p:sp>
        <p:nvSpPr>
          <p:cNvPr id="15" name="Text 13"/>
          <p:cNvSpPr/>
          <p:nvPr/>
        </p:nvSpPr>
        <p:spPr>
          <a:xfrm>
            <a:off x="6826895" y="2856235"/>
            <a:ext cx="169701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Điều kiện quá chặt (dị ứng + bán kính nhỏ) → Kỳ vọng: UI báo không tìm được lựa chọn an toàn và gợi ý relax filter.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845269"/>
            <a:ext cx="5568702"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Phân công, Demo script ngắn &amp; Next steps</a:t>
            </a:r>
            <a:endParaRPr lang="en-US" sz="1950" dirty="0"/>
          </a:p>
        </p:txBody>
      </p:sp>
      <p:sp>
        <p:nvSpPr>
          <p:cNvPr id="3" name="Text 1"/>
          <p:cNvSpPr/>
          <p:nvPr/>
        </p:nvSpPr>
        <p:spPr>
          <a:xfrm>
            <a:off x="496119" y="1403375"/>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Phân công rõ ràng, mỗi người chịu trách nhiệm tài nguyên demo: dataset, spec, prompt flow, test. Kịch bản demo 5 phút: 1) nêu pain (20–30 phút chọn món), 2) nhập prompt happy path → show 3 gợi ý + lý do, 3) show case low-confidence/ allergy → hệ thống hỏi lại hoặc báo không có kết quả an toàn, 4) kết luận: LLM mạnh về ngôn ngữ nhưng cần dataset, bán kính và guardrail dị ứng để đáng tin cậy trong sản phẩm thật.</a:t>
            </a:r>
            <a:endParaRPr lang="en-US" sz="950" dirty="0"/>
          </a:p>
        </p:txBody>
      </p:sp>
      <p:pic>
        <p:nvPicPr>
          <p:cNvPr id="4" name="Image 0" descr="preencoded.png">    </p:cNvPr>
          <p:cNvPicPr>
            <a:picLocks noChangeAspect="1"/>
          </p:cNvPicPr>
          <p:nvPr/>
        </p:nvPicPr>
        <p:blipFill>
          <a:blip r:embed="rId1"/>
          <a:stretch>
            <a:fillRect/>
          </a:stretch>
        </p:blipFill>
        <p:spPr>
          <a:xfrm>
            <a:off x="500881" y="2218730"/>
            <a:ext cx="1961108" cy="1961108"/>
          </a:xfrm>
          <a:prstGeom prst="rect">
            <a:avLst/>
          </a:prstGeom>
        </p:spPr>
      </p:pic>
      <p:pic>
        <p:nvPicPr>
          <p:cNvPr id="5" name="Image 1" descr="preencoded.png">    </p:cNvPr>
          <p:cNvPicPr>
            <a:picLocks noChangeAspect="1"/>
          </p:cNvPicPr>
          <p:nvPr/>
        </p:nvPicPr>
        <p:blipFill>
          <a:blip r:embed="rId2"/>
          <a:stretch>
            <a:fillRect/>
          </a:stretch>
        </p:blipFill>
        <p:spPr>
          <a:xfrm>
            <a:off x="2561183" y="2218730"/>
            <a:ext cx="1961183" cy="1961183"/>
          </a:xfrm>
          <a:prstGeom prst="rect">
            <a:avLst/>
          </a:prstGeom>
        </p:spPr>
      </p:pic>
      <p:pic>
        <p:nvPicPr>
          <p:cNvPr id="6" name="Image 2" descr="preencoded.png">    </p:cNvPr>
          <p:cNvPicPr>
            <a:picLocks noChangeAspect="1"/>
          </p:cNvPicPr>
          <p:nvPr/>
        </p:nvPicPr>
        <p:blipFill>
          <a:blip r:embed="rId3"/>
          <a:stretch>
            <a:fillRect/>
          </a:stretch>
        </p:blipFill>
        <p:spPr>
          <a:xfrm>
            <a:off x="4621560" y="2218730"/>
            <a:ext cx="1961183" cy="1961183"/>
          </a:xfrm>
          <a:prstGeom prst="rect">
            <a:avLst/>
          </a:prstGeom>
        </p:spPr>
      </p:pic>
      <p:pic>
        <p:nvPicPr>
          <p:cNvPr id="7" name="Image 3" descr="preencoded.png">    </p:cNvPr>
          <p:cNvPicPr>
            <a:picLocks noChangeAspect="1"/>
          </p:cNvPicPr>
          <p:nvPr/>
        </p:nvPicPr>
        <p:blipFill>
          <a:blip r:embed="rId4"/>
          <a:stretch>
            <a:fillRect/>
          </a:stretch>
        </p:blipFill>
        <p:spPr>
          <a:xfrm>
            <a:off x="6681936" y="2218730"/>
            <a:ext cx="1961183" cy="196118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2026-06-04T09:02:07Z</dcterms:created>
  <dcterms:modified xsi:type="dcterms:W3CDTF">2026-06-04T09:02:07Z</dcterms:modified>
</cp:coreProperties>
</file>